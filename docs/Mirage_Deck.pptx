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600" b="1">
                <a:solidFill>
                  <a:srgbClr val="35D6A6"/>
                </a:solidFill>
                <a:latin typeface="Segoe UI"/>
              </a:rPr>
              <a:t>MIRAGE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3832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E9EEF0"/>
                </a:solidFill>
                <a:latin typeface="Segoe UI"/>
              </a:rPr>
              <a:t>AI deception &amp; honeynet defense for agentic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A3AA"/>
                </a:solidFill>
                <a:latin typeface="Segoe UI"/>
              </a:rPr>
              <a:t>An AI defender that traps attackers in a fake network, studies them, and plants tailored decoys — with a human analyst in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120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D98A"/>
                </a:solidFill>
                <a:latin typeface="Segoe UI"/>
              </a:rPr>
              <a:t>Secure Horizon  ·  Track 2: AI for Security &amp; Secure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D6A6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9EEF0"/>
                </a:solidFill>
                <a:latin typeface="Segoe UI"/>
              </a:rPr>
              <a:t>AI agents are a new, unguarded attack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Companies are deploying LLM agents with tools, memory and RAG — a brand-new surface that classic security tools don't see.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OWASP's Agentic Top-10 (ASI01–ASI06) is largely undefended: prompt injection, tool misuse, identity abuse, tool/data poisoning.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A hijacked internal assistant can exfiltrate data without a single CVE or malware.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Meanwhile SOC analysts drown in alerts and must reconstruct the story themselves.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Honeypots catch intruders — but they're passive and don't adapt to an attacker, let alone an AI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MIRAGE · Deception 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D6A6"/>
                </a:solidFill>
                <a:latin typeface="Segoe U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9EEF0"/>
                </a:solidFill>
                <a:latin typeface="Segoe UI"/>
              </a:rPr>
              <a:t>A defender agent that fights deception with deception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Mirage is an AI defender (AWS Bedrock / Claude) that runs a honeynet of fake hosts, tools and documents.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When an attacker — human or AI agent — enters, Mirage profiles them, predicts their next move, and plants decoys tailored to that attacker.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Every trap is an OWASP-Agentic signal: fake credentials (ASI03), decoy MCP tools (ASI02), honey-docs (ASI06), injection detection (ASI01).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Mirage proposes containment; a human analyst approves — nothing destructive happens autonomously.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Everything Mirage says about the attacker is re-checked against raw evidence in code, so its analysis can't hallucinate.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MIRAGE · Deception 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D6A6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9EEF0"/>
                </a:solidFill>
                <a:latin typeface="Segoe UI"/>
              </a:rPr>
              <a:t>Two networks, one adaptive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1783080" cy="1097280"/>
          </a:xfrm>
          <a:prstGeom prst="roundRect">
            <a:avLst/>
          </a:prstGeom>
          <a:solidFill>
            <a:srgbClr val="12161A"/>
          </a:solidFill>
          <a:ln w="12700">
            <a:solidFill>
              <a:srgbClr val="2A3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E9EEF0"/>
                </a:solidFill>
                <a:latin typeface="Segoe UI"/>
              </a:rPr>
              <a:t>Attacker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50008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5D6A6"/>
                </a:solidFill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24911" y="2743200"/>
            <a:ext cx="1783080" cy="1097280"/>
          </a:xfrm>
          <a:prstGeom prst="roundRect">
            <a:avLst/>
          </a:prstGeom>
          <a:solidFill>
            <a:srgbClr val="12161A"/>
          </a:solidFill>
          <a:ln w="12700">
            <a:solidFill>
              <a:srgbClr val="2A3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E9EEF0"/>
                </a:solidFill>
                <a:latin typeface="Segoe UI"/>
              </a:rPr>
              <a:t>Deception env
(SSH · MCP · RAG)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5D6A6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9744" y="2743200"/>
            <a:ext cx="1783080" cy="1097280"/>
          </a:xfrm>
          <a:prstGeom prst="roundRect">
            <a:avLst/>
          </a:prstGeom>
          <a:solidFill>
            <a:srgbClr val="12161A"/>
          </a:solidFill>
          <a:ln w="12700">
            <a:solidFill>
              <a:srgbClr val="2A3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E9EEF0"/>
                </a:solidFill>
                <a:latin typeface="Segoe UI"/>
              </a:rPr>
              <a:t>Collector →
Event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5D6A6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94575" y="2743200"/>
            <a:ext cx="1783080" cy="1097280"/>
          </a:xfrm>
          <a:prstGeom prst="roundRect">
            <a:avLst/>
          </a:prstGeom>
          <a:solidFill>
            <a:srgbClr val="12161A"/>
          </a:solidFill>
          <a:ln w="19050">
            <a:solidFill>
              <a:srgbClr val="35D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5D6A6"/>
                </a:solidFill>
                <a:latin typeface="Segoe UI"/>
              </a:rPr>
              <a:t>Mirage brain
(profile · plan)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04503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5D6A6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79407" y="2743200"/>
            <a:ext cx="1783080" cy="1097280"/>
          </a:xfrm>
          <a:prstGeom prst="roundRect">
            <a:avLst/>
          </a:prstGeom>
          <a:solidFill>
            <a:srgbClr val="12161A"/>
          </a:solidFill>
          <a:ln w="12700">
            <a:solidFill>
              <a:srgbClr val="2A3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E9EEF0"/>
                </a:solidFill>
                <a:latin typeface="Segoe UI"/>
              </a:rPr>
              <a:t>mirage-control
(human approve)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9335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5D6A6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064239" y="2743200"/>
            <a:ext cx="1783080" cy="1097280"/>
          </a:xfrm>
          <a:prstGeom prst="roundRect">
            <a:avLst/>
          </a:prstGeom>
          <a:solidFill>
            <a:srgbClr val="12161A"/>
          </a:solidFill>
          <a:ln w="12700">
            <a:solidFill>
              <a:srgbClr val="2A3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E9EEF0"/>
                </a:solidFill>
                <a:latin typeface="Segoe UI"/>
              </a:rPr>
              <a:t>Exports
(SIEM · reports)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3AA"/>
                </a:solidFill>
                <a:latin typeface="Segoe UI"/>
              </a:rPr>
              <a:t>Attack-net (isolated, no internet)  ———  Defense-net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06240"/>
            <a:ext cx="105156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E9EEF0"/>
                </a:solidFill>
                <a:latin typeface="Segoe UI"/>
              </a:rPr>
              <a:t>•  Attack-net: the fake company — Cowrie-format SSH hosts, an MCP tool server, a RAG knowledge base, an internal wiki.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E9EEF0"/>
                </a:solidFill>
                <a:latin typeface="Segoe UI"/>
              </a:rPr>
              <a:t>•  Defense-net: a read-only collector normalises every log into an event + ATT&amp;CK technique; Mirage reasons over batches.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E9EEF0"/>
                </a:solidFill>
                <a:latin typeface="Segoe UI"/>
              </a:rPr>
              <a:t>•  Feedback loop: Mirage writes new decoys and wiki pages back into the environment to keep the attacker engaged.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MIRAGE · Deception Agent 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D6A6"/>
                </a:solidFill>
                <a:latin typeface="Segoe UI"/>
              </a:rPr>
              <a:t>THE ADVERSARY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9EEF0"/>
                </a:solidFill>
                <a:latin typeface="Segoe UI"/>
              </a:rPr>
              <a:t>The attackers are AI agents — and they self-plan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Attackers are LLM-driven agents (Claude Haiku via Bedrock), not fixed scripts — they decide their own moves.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An auto-planner picks the attack and can mix vectors; it prefers the hard options.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9AA3AA"/>
                </a:solidFill>
                <a:latin typeface="Segoe UI"/>
              </a:rPr>
              <a:t>–  Personas: data-thief, injector (tries to manipulate the analyst), and a patient APT that covers its tracks.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9AA3AA"/>
                </a:solidFill>
                <a:latin typeface="Segoe UI"/>
              </a:rPr>
              <a:t>–  Agentic scenarios: email-hijack, MCP tool-poisoning, RAG honey-doc theft, and an evasive blend that blinds the audit log.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Deterministic scripted variants are kept for reproducible demos — well-aligned models often refuse, which is itself a finding.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MIRAGE · Deception 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D6A6"/>
                </a:solidFill>
                <a:latin typeface="Segoe UI"/>
              </a:rPr>
              <a:t>SCENARIOS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9EEF0"/>
                </a:solidFill>
                <a:latin typeface="Segoe UI"/>
              </a:rPr>
              <a:t>Six attack scenarios across every trap source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03120"/>
                <a:gridCol w="2834640"/>
                <a:gridCol w="2286000"/>
              </a:tblGrid>
              <a:tr h="4963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5D6A6"/>
                          </a:solidFill>
                          <a:latin typeface="Segoe UI"/>
                        </a:rPr>
                        <a:t>Scenario</a:t>
                      </a:r>
                    </a:p>
                  </a:txBody>
                  <a:tcPr>
                    <a:solidFill>
                      <a:srgbClr val="1216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5D6A6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>
                    <a:solidFill>
                      <a:srgbClr val="1216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5D6A6"/>
                          </a:solidFill>
                          <a:latin typeface="Segoe UI"/>
                        </a:rPr>
                        <a:t>OWASP / ATT&amp;CK</a:t>
                      </a:r>
                    </a:p>
                  </a:txBody>
                  <a:tcPr>
                    <a:solidFill>
                      <a:srgbClr val="1216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5D6A6"/>
                          </a:solidFill>
                          <a:latin typeface="Segoe UI"/>
                        </a:rPr>
                        <a:t>Detection signal</a:t>
                      </a:r>
                    </a:p>
                  </a:txBody>
                  <a:tcPr>
                    <a:solidFill>
                      <a:srgbClr val="12161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9EEF0"/>
                          </a:solidFill>
                          <a:latin typeface="Segoe UI"/>
                        </a:rPr>
                        <a:t>Credential theft → lateral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AA3AA"/>
                          </a:solidFill>
                          <a:latin typeface="Segoe UI"/>
                        </a:rPr>
                        <a:t>SSH / Cowrie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AA3AA"/>
                          </a:solidFill>
                          <a:latin typeface="Segoe UI"/>
                        </a:rPr>
                        <a:t>T1552 · T1078 · T1083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AA3AA"/>
                          </a:solidFill>
                          <a:latin typeface="Segoe UI"/>
                        </a:rPr>
                        <a:t>canary hits (ASI03)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9EEF0"/>
                          </a:solidFill>
                          <a:latin typeface="Segoe UI"/>
                        </a:rPr>
                        <a:t>APT (evasive)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AA3AA"/>
                          </a:solidFill>
                          <a:latin typeface="Segoe UI"/>
                        </a:rPr>
                        <a:t>SSH / Cowrie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AA3AA"/>
                          </a:solidFill>
                          <a:latin typeface="Segoe UI"/>
                        </a:rPr>
                        <a:t>+ T1070 anti-forensics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AA3AA"/>
                          </a:solidFill>
                          <a:latin typeface="Segoe UI"/>
                        </a:rPr>
                        <a:t>canary + decoys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9EEF0"/>
                          </a:solidFill>
                          <a:latin typeface="Segoe UI"/>
                        </a:rPr>
                        <a:t>Prompt-injection hijack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AA3AA"/>
                          </a:solidFill>
                          <a:latin typeface="Segoe UI"/>
                        </a:rPr>
                        <a:t>Email / MCP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AA3AA"/>
                          </a:solidFill>
                          <a:latin typeface="Segoe UI"/>
                        </a:rPr>
                        <a:t>ASI01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AA3AA"/>
                          </a:solidFill>
                          <a:latin typeface="Segoe UI"/>
                        </a:rPr>
                        <a:t>injection caught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9EEF0"/>
                          </a:solidFill>
                          <a:latin typeface="Segoe UI"/>
                        </a:rPr>
                        <a:t>MCP tool-poisoning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AA3AA"/>
                          </a:solidFill>
                          <a:latin typeface="Segoe UI"/>
                        </a:rPr>
                        <a:t>MCP server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AA3AA"/>
                          </a:solidFill>
                          <a:latin typeface="Segoe UI"/>
                        </a:rPr>
                        <a:t>ASI06 → ASI02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AA3AA"/>
                          </a:solidFill>
                          <a:latin typeface="Segoe UI"/>
                        </a:rPr>
                        <a:t>trap_hit on decoy tools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9EEF0"/>
                          </a:solidFill>
                          <a:latin typeface="Segoe UI"/>
                        </a:rPr>
                        <a:t>RAG honey-doc theft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AA3AA"/>
                          </a:solidFill>
                          <a:latin typeface="Segoe UI"/>
                        </a:rPr>
                        <a:t>RAG (Chroma)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AA3AA"/>
                          </a:solidFill>
                          <a:latin typeface="Segoe UI"/>
                        </a:rPr>
                        <a:t>ASI06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AA3AA"/>
                          </a:solidFill>
                          <a:latin typeface="Segoe UI"/>
                        </a:rPr>
                        <a:t>doc_retrieval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9EEF0"/>
                          </a:solidFill>
                          <a:latin typeface="Segoe UI"/>
                        </a:rPr>
                        <a:t>Evasive blend (blind + exfil)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AA3AA"/>
                          </a:solidFill>
                          <a:latin typeface="Segoe UI"/>
                        </a:rPr>
                        <a:t>MCP + RAG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AA3AA"/>
                          </a:solidFill>
                          <a:latin typeface="Segoe UI"/>
                        </a:rPr>
                        <a:t>ASI01/02/06 + evasion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AA3AA"/>
                          </a:solidFill>
                          <a:latin typeface="Segoe UI"/>
                        </a:rPr>
                        <a:t>trap_hit + egress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MIRAGE · Deception 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D6A6"/>
                </a:solidFill>
                <a:latin typeface="Segoe UI"/>
              </a:rPr>
              <a:t>THE DEFENDER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9EEF0"/>
                </a:solidFill>
                <a:latin typeface="Segoe UI"/>
              </a:rPr>
              <a:t>Mirage brain — profile, plan, contain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Runs on Claude Sonnet (Bedrock). Each batch of events: classifies the actor, infers the objective, predicts next ATT&amp;CK moves.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Plants decoys tailored to the attacker — breadcrumbs with fake credentials, honey-docs, decoy services, wiki pages.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For a hijacked AI agent it proposes the right containment: revoke the agent token, disable the abused MCP tool, recommend an IOC block.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mirage-control is the only way Mirage can act — a deterministic MCP tool server enforcing kill-switch, allowlist, schema, evidence and rate caps.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Human-in-the-loop: risky actions queue for analyst approval; a kill switch freezes the agent instantly.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MIRAGE · Deception 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D6A6"/>
                </a:solidFill>
                <a:latin typeface="Segoe UI"/>
              </a:rPr>
              <a:t>SECURE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9EEF0"/>
                </a:solidFill>
                <a:latin typeface="Segoe UI"/>
              </a:rPr>
              <a:t>The defender can't lie, and can't be injected into trusting the attacker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Grounded analyst summary: Mirage's every claim is re-verified in code against the raw events — quotes must actually appear.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Evidence checker (code, not an LLM) reports a grounding rate and a hallucination rate for every incident.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Measured across 1079 agent runs: grounding 100%, hallucination 0%.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Injection guard wraps all untrusted input (ASI01); it may flag a session but can never mark it benign — a poisoned note can't disarm Mirage.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Every mirage-control action carries evidence event-ids and is written to a hash-chained audit 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MIRAGE · Deception 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D6A6"/>
                </a:solidFill>
                <a:latin typeface="Segoe UI"/>
              </a:rPr>
              <a:t>REAL STACK — NOT MOCKED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9EEF0"/>
                </a:solidFill>
                <a:latin typeface="Segoe UI"/>
              </a:rPr>
              <a:t>Built on production primitives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AWS Bedrock — Claude Sonnet (defender), Claude Haiku (attacker/planner), Titan v2 embeddings.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MCP — the company tools and mirage-control run as real MCP SDK servers over a stdio transport (JSON-RPC).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RAG — a Chroma vector database with Titan embeddings; retrieving a restricted honey-doc is the ASI06 signal.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Honeynet — rendered into Cowrie's filesystem format; served locally by an emulated shell (no Docker needed).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MongoDB is the system of record; a FastAPI console streams the live pipeline. 362 automated tests 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MIRAGE · Deception 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D6A6"/>
                </a:solidFill>
                <a:latin typeface="Segoe U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9EEF0"/>
                </a:solidFill>
                <a:latin typeface="Segoe UI"/>
              </a:rPr>
              <a:t>Detection quality</a:t>
            </a:r>
          </a:p>
        </p:txBody>
      </p:sp>
      <p:pic>
        <p:nvPicPr>
          <p:cNvPr id="4" name="Picture 3" descr="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7680960" cy="3627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2011680"/>
            <a:ext cx="2926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5D6A6"/>
                </a:solidFill>
                <a:latin typeface="Segoe UI"/>
              </a:rPr>
              <a:t>F1 = 1.00</a:t>
            </a:r>
          </a:p>
          <a:p>
            <a:pPr algn="l">
              <a:spcAft>
                <a:spcPts val="1400"/>
              </a:spcAft>
            </a:pPr>
            <a:r>
              <a:rPr sz="1100" b="0">
                <a:solidFill>
                  <a:srgbClr val="9AA3AA"/>
                </a:solidFill>
                <a:latin typeface="Segoe UI"/>
              </a:rPr>
              <a:t>perfect detection coverage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35D6A6"/>
                </a:solidFill>
                <a:latin typeface="Segoe UI"/>
              </a:rPr>
              <a:t>Grounded 100%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E8D98A"/>
                </a:solidFill>
                <a:latin typeface="Segoe UI"/>
              </a:rPr>
              <a:t>Hallucination 0%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E9EEF0"/>
                </a:solidFill>
                <a:latin typeface="Segoe UI"/>
              </a:rPr>
              <a:t>MTTD 5.1s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AA3AA"/>
                </a:solidFill>
                <a:latin typeface="Segoe UI"/>
              </a:rPr>
              <a:t>mean time to detect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MIRAGE · Deception Agent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D6A6"/>
                </a:solidFill>
                <a:latin typeface="Segoe U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9EEF0"/>
                </a:solidFill>
                <a:latin typeface="Segoe UI"/>
              </a:rPr>
              <a:t>Defense coverage — every attack vector caught</a:t>
            </a:r>
          </a:p>
        </p:txBody>
      </p:sp>
      <p:pic>
        <p:nvPicPr>
          <p:cNvPr id="4" name="Picture 3" descr="def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828800"/>
            <a:ext cx="9235440" cy="43611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3AA"/>
                </a:solidFill>
                <a:latin typeface="Segoe UI"/>
              </a:rPr>
              <a:t>Each bar: attacker actions of that vector; teal = defended. Every action happens inside the deception net and is observed.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MIRAGE · Deception Agent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D6A6"/>
                </a:solidFill>
                <a:latin typeface="Segoe U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9EEF0"/>
                </a:solidFill>
                <a:latin typeface="Segoe UI"/>
              </a:rPr>
              <a:t>Scenarios defended (hard first)</a:t>
            </a:r>
          </a:p>
        </p:txBody>
      </p:sp>
      <p:pic>
        <p:nvPicPr>
          <p:cNvPr id="4" name="Picture 3" descr="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828800"/>
            <a:ext cx="9235440" cy="461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3AA"/>
                </a:solidFill>
                <a:latin typeface="Segoe UI"/>
              </a:rPr>
              <a:t>red = hard · gold = medium.  Every scenario across 1079 agent runs was detected and contained.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MIRAGE · Deception Agent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D6A6"/>
                </a:solidFill>
                <a:latin typeface="Segoe UI"/>
              </a:rPr>
              <a:t>OPERATIONAL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9EEF0"/>
                </a:solidFill>
                <a:latin typeface="Segoe UI"/>
              </a:rPr>
              <a:t>Fits a real SOC, and the regulator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One-click SIEM export: ECS-schema alerts plus ready-to-paste Splunk SPL and Elastic ES|QL per technique and IOC.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Auto-generated incident report with the grounded summary, ATT&amp;CK mapping, decoys and recommendations.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NIS2 Article 23 24-hour early-warning draft, pre-filled from the incident.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Analyst stays in control: approval queue, kill switch, hash-chained audit — AI proposes, human disposes.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Live console: the attack pipeline as a node graph, plus a scroll-down analytics page (gauges, histograms, ATT&amp;CK coverage).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MIRAGE · Deception 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D6A6"/>
                </a:solidFill>
                <a:latin typeface="Segoe UI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9EEF0"/>
                </a:solidFill>
                <a:latin typeface="Segoe UI"/>
              </a:rPr>
              <a:t>Roadmap &amp;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Run the real Cowrie daemon and serve MCP over the network for a fully distributed deployment.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Tamper-evident audit end-to-end; an analyst time-saved study (triage time with Mirage vs raw logs).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More adversary personas and a single session that blends host + agent compromise.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•  Package as a drop-in deception layer in front of any company's real MCP/RAG 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E9EEF0"/>
                </a:solidFill>
                <a:latin typeface="Segoe UI"/>
              </a:rPr>
              <a:t>Mirage turns every intrusion attempt into labelled, grounded threat intelligence —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35D6A6"/>
                </a:solidFill>
                <a:latin typeface="Segoe UI"/>
              </a:rPr>
              <a:t>and keeps a human in command the whole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MIRAGE · Deception Agent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6E74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